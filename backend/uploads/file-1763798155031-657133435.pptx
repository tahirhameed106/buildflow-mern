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6" r:id="rId2"/>
    <p:sldId id="261" r:id="rId3"/>
    <p:sldId id="267" r:id="rId4"/>
    <p:sldId id="268" r:id="rId5"/>
    <p:sldId id="262" r:id="rId6"/>
    <p:sldId id="263" r:id="rId7"/>
    <p:sldId id="265" r:id="rId8"/>
    <p:sldId id="266" r:id="rId9"/>
    <p:sldId id="264" r:id="rId10"/>
    <p:sldId id="257" r:id="rId11"/>
    <p:sldId id="258" r:id="rId12"/>
    <p:sldId id="259" r:id="rId13"/>
    <p:sldId id="260"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236"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7D0E6-1AC5-4B18-AF76-7F43FCF49B7A}" type="datetimeFigureOut">
              <a:rPr lang="en-US" smtClean="0"/>
              <a:t>11/17/2025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8D135-0E0E-490F-AA3F-04737D7826AE}" type="slidenum">
              <a:rPr lang="en-US" smtClean="0"/>
              <a:t>‹#›</a:t>
            </a:fld>
            <a:endParaRPr lang="en-US"/>
          </a:p>
        </p:txBody>
      </p:sp>
    </p:spTree>
    <p:extLst>
      <p:ext uri="{BB962C8B-B14F-4D97-AF65-F5344CB8AC3E}">
        <p14:creationId xmlns:p14="http://schemas.microsoft.com/office/powerpoint/2010/main" val="2857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E8D135-0E0E-490F-AA3F-04737D7826AE}" type="slidenum">
              <a:rPr lang="en-US" smtClean="0"/>
              <a:t>8</a:t>
            </a:fld>
            <a:endParaRPr lang="en-US"/>
          </a:p>
        </p:txBody>
      </p:sp>
    </p:spTree>
    <p:extLst>
      <p:ext uri="{BB962C8B-B14F-4D97-AF65-F5344CB8AC3E}">
        <p14:creationId xmlns:p14="http://schemas.microsoft.com/office/powerpoint/2010/main" val="615543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888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9569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561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33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0382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8067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11/17/2025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614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5728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933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934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208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11/17/2025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5348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Abstraction Function</a:t>
            </a:r>
          </a:p>
        </p:txBody>
      </p:sp>
      <p:sp>
        <p:nvSpPr>
          <p:cNvPr id="3" name="Subtitle 2"/>
          <p:cNvSpPr>
            <a:spLocks noGrp="1"/>
          </p:cNvSpPr>
          <p:nvPr>
            <p:ph type="subTitle" idx="1"/>
          </p:nvPr>
        </p:nvSpPr>
        <p:spPr/>
        <p:txBody>
          <a:bodyPr/>
          <a:lstStyle/>
          <a:p>
            <a:r>
              <a:t>Understanding how internal data represents an abstract concept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5E965-2D30-4D65-BBCC-6DB89AC9608C}"/>
              </a:ext>
            </a:extLst>
          </p:cNvPr>
          <p:cNvSpPr>
            <a:spLocks noGrp="1"/>
          </p:cNvSpPr>
          <p:nvPr>
            <p:ph type="title"/>
          </p:nvPr>
        </p:nvSpPr>
        <p:spPr/>
        <p:txBody>
          <a:bodyPr/>
          <a:lstStyle/>
          <a:p>
            <a:r>
              <a:rPr lang="en-US" dirty="0"/>
              <a:t>Invariants</a:t>
            </a:r>
          </a:p>
        </p:txBody>
      </p:sp>
      <p:sp>
        <p:nvSpPr>
          <p:cNvPr id="3" name="Content Placeholder 2">
            <a:extLst>
              <a:ext uri="{FF2B5EF4-FFF2-40B4-BE49-F238E27FC236}">
                <a16:creationId xmlns:a16="http://schemas.microsoft.com/office/drawing/2014/main" id="{7FDC2642-3017-4B56-B994-C33D6530B616}"/>
              </a:ext>
            </a:extLst>
          </p:cNvPr>
          <p:cNvSpPr>
            <a:spLocks noGrp="1"/>
          </p:cNvSpPr>
          <p:nvPr>
            <p:ph idx="1"/>
          </p:nvPr>
        </p:nvSpPr>
        <p:spPr/>
        <p:txBody>
          <a:bodyPr>
            <a:normAutofit/>
          </a:bodyPr>
          <a:lstStyle/>
          <a:p>
            <a:pPr algn="just"/>
            <a:r>
              <a:rPr lang="en-US" sz="1700" dirty="0">
                <a:latin typeface="Times New Roman" panose="02020603050405020304" pitchFamily="18" charset="0"/>
                <a:cs typeface="Times New Roman" panose="02020603050405020304" pitchFamily="18" charset="0"/>
              </a:rPr>
              <a:t>Invariant, quite literally, means </a:t>
            </a:r>
            <a:r>
              <a:rPr lang="en-US" sz="1700" i="1" dirty="0">
                <a:latin typeface="Times New Roman" panose="02020603050405020304" pitchFamily="18" charset="0"/>
                <a:cs typeface="Times New Roman" panose="02020603050405020304" pitchFamily="18" charset="0"/>
              </a:rPr>
              <a:t>something that does not change or vary.</a:t>
            </a:r>
            <a:endParaRPr lang="en-US" sz="1700" dirty="0">
              <a:latin typeface="Times New Roman" panose="02020603050405020304" pitchFamily="18" charset="0"/>
              <a:cs typeface="Times New Roman" panose="02020603050405020304" pitchFamily="18" charset="0"/>
            </a:endParaRPr>
          </a:p>
          <a:p>
            <a:pPr algn="just"/>
            <a:r>
              <a:rPr lang="en-US" sz="1700" dirty="0">
                <a:latin typeface="Times New Roman" panose="02020603050405020304" pitchFamily="18" charset="0"/>
                <a:cs typeface="Times New Roman" panose="02020603050405020304" pitchFamily="18" charset="0"/>
              </a:rPr>
              <a:t>In the context of computer programming, it can be seen as a set of assumptions a piece of code takes before it is able to perform any computation of importance. And if those assumptions aren’t actually true the result of the computation is meaningless, or more appropriately, it cannot be guaranteed that the result is correct.</a:t>
            </a:r>
          </a:p>
          <a:p>
            <a:pPr algn="just"/>
            <a:r>
              <a:rPr lang="en-US" sz="1800" dirty="0">
                <a:latin typeface="Times New Roman" panose="02020603050405020304" pitchFamily="18" charset="0"/>
                <a:cs typeface="Times New Roman" panose="02020603050405020304" pitchFamily="18" charset="0"/>
              </a:rPr>
              <a:t>An </a:t>
            </a:r>
            <a:r>
              <a:rPr lang="en-US" sz="1800" b="1" dirty="0">
                <a:latin typeface="Times New Roman" panose="02020603050405020304" pitchFamily="18" charset="0"/>
                <a:cs typeface="Times New Roman" panose="02020603050405020304" pitchFamily="18" charset="0"/>
              </a:rPr>
              <a:t>invariant</a:t>
            </a:r>
            <a:r>
              <a:rPr lang="en-US" sz="1800" dirty="0">
                <a:latin typeface="Times New Roman" panose="02020603050405020304" pitchFamily="18" charset="0"/>
                <a:cs typeface="Times New Roman" panose="02020603050405020304" pitchFamily="18" charset="0"/>
              </a:rPr>
              <a:t> is a </a:t>
            </a:r>
            <a:r>
              <a:rPr lang="en-US" sz="1800" b="1" dirty="0">
                <a:latin typeface="Times New Roman" panose="02020603050405020304" pitchFamily="18" charset="0"/>
                <a:cs typeface="Times New Roman" panose="02020603050405020304" pitchFamily="18" charset="0"/>
              </a:rPr>
              <a:t>condition that always holds true</a:t>
            </a:r>
            <a:r>
              <a:rPr lang="en-US" sz="1800" dirty="0">
                <a:latin typeface="Times New Roman" panose="02020603050405020304" pitchFamily="18" charset="0"/>
                <a:cs typeface="Times New Roman" panose="02020603050405020304" pitchFamily="18" charset="0"/>
              </a:rPr>
              <a:t> during the execution of a program (or for a data structure/class).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stays </a:t>
            </a:r>
            <a:r>
              <a:rPr lang="en-US" sz="1800" b="1" dirty="0">
                <a:latin typeface="Times New Roman" panose="02020603050405020304" pitchFamily="18" charset="0"/>
                <a:cs typeface="Times New Roman" panose="02020603050405020304" pitchFamily="18" charset="0"/>
              </a:rPr>
              <a:t>unchanged</a:t>
            </a:r>
            <a:r>
              <a:rPr lang="en-US" sz="1800" dirty="0">
                <a:latin typeface="Times New Roman" panose="02020603050405020304" pitchFamily="18" charset="0"/>
                <a:cs typeface="Times New Roman" panose="02020603050405020304" pitchFamily="18" charset="0"/>
              </a:rPr>
              <a:t> no matter what operations you perform — as long as your program is correct.</a:t>
            </a:r>
            <a:endParaRPr lang="en-US" sz="17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80802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9846-470D-453A-98D2-A88D00950AC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DBC2707-D78E-4FCF-9A27-10DE2E12C942}"/>
              </a:ext>
            </a:extLst>
          </p:cNvPr>
          <p:cNvSpPr>
            <a:spLocks noGrp="1"/>
          </p:cNvSpPr>
          <p:nvPr>
            <p:ph idx="1"/>
          </p:nvPr>
        </p:nvSpPr>
        <p:spPr/>
        <p:txBody>
          <a:bodyPr/>
          <a:lstStyle/>
          <a:p>
            <a:r>
              <a:rPr lang="en-US" dirty="0"/>
              <a:t>string s = "Hello";</a:t>
            </a:r>
          </a:p>
          <a:p>
            <a:r>
              <a:rPr lang="en-US" dirty="0"/>
              <a:t>string t = s;</a:t>
            </a:r>
          </a:p>
          <a:p>
            <a:r>
              <a:rPr lang="en-US" dirty="0"/>
              <a:t>s = s + " World";</a:t>
            </a:r>
          </a:p>
          <a:p>
            <a:endParaRPr lang="en-US" dirty="0"/>
          </a:p>
        </p:txBody>
      </p:sp>
    </p:spTree>
    <p:extLst>
      <p:ext uri="{BB962C8B-B14F-4D97-AF65-F5344CB8AC3E}">
        <p14:creationId xmlns:p14="http://schemas.microsoft.com/office/powerpoint/2010/main" val="3464439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D39EE-8AC7-4B9F-96CA-87826C5C8E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1ED0F1-88A9-42C1-9C15-2102364C4E01}"/>
              </a:ext>
            </a:extLst>
          </p:cNvPr>
          <p:cNvSpPr>
            <a:spLocks noGrp="1"/>
          </p:cNvSpPr>
          <p:nvPr>
            <p:ph idx="1"/>
          </p:nvPr>
        </p:nvSpPr>
        <p:spPr/>
        <p:txBody>
          <a:bodyPr>
            <a:normAutofit fontScale="25000" lnSpcReduction="20000"/>
          </a:bodyPr>
          <a:lstStyle/>
          <a:p>
            <a:r>
              <a:rPr lang="en-US" sz="4800" dirty="0">
                <a:latin typeface="Times New Roman" panose="02020603050405020304" pitchFamily="18" charset="0"/>
                <a:cs typeface="Times New Roman" panose="02020603050405020304" pitchFamily="18" charset="0"/>
              </a:rPr>
              <a:t>using System;</a:t>
            </a:r>
          </a:p>
          <a:p>
            <a:r>
              <a:rPr lang="en-US" sz="4800" dirty="0">
                <a:latin typeface="Times New Roman" panose="02020603050405020304" pitchFamily="18" charset="0"/>
                <a:cs typeface="Times New Roman" panose="02020603050405020304" pitchFamily="18" charset="0"/>
              </a:rPr>
              <a:t>class Program</a:t>
            </a:r>
          </a:p>
          <a:p>
            <a:r>
              <a:rPr lang="en-US" sz="4800" dirty="0">
                <a:latin typeface="Times New Roman" panose="02020603050405020304" pitchFamily="18" charset="0"/>
                <a:cs typeface="Times New Roman" panose="02020603050405020304" pitchFamily="18" charset="0"/>
              </a:rPr>
              <a:t>{</a:t>
            </a:r>
          </a:p>
          <a:p>
            <a:r>
              <a:rPr lang="en-US" sz="4800" dirty="0">
                <a:latin typeface="Times New Roman" panose="02020603050405020304" pitchFamily="18" charset="0"/>
                <a:cs typeface="Times New Roman" panose="02020603050405020304" pitchFamily="18" charset="0"/>
              </a:rPr>
              <a:t>    static void Main()</a:t>
            </a:r>
          </a:p>
          <a:p>
            <a:r>
              <a:rPr lang="en-US" sz="4800" dirty="0">
                <a:latin typeface="Times New Roman" panose="02020603050405020304" pitchFamily="18" charset="0"/>
                <a:cs typeface="Times New Roman" panose="02020603050405020304" pitchFamily="18" charset="0"/>
              </a:rPr>
              <a:t>    {</a:t>
            </a:r>
          </a:p>
          <a:p>
            <a:r>
              <a:rPr lang="en-US" sz="4800" dirty="0">
                <a:latin typeface="Times New Roman" panose="02020603050405020304" pitchFamily="18" charset="0"/>
                <a:cs typeface="Times New Roman" panose="02020603050405020304" pitchFamily="18" charset="0"/>
              </a:rPr>
              <a:t>        string s = "Hello";</a:t>
            </a:r>
          </a:p>
          <a:p>
            <a:r>
              <a:rPr lang="en-US" sz="4800" dirty="0">
                <a:latin typeface="Times New Roman" panose="02020603050405020304" pitchFamily="18" charset="0"/>
                <a:cs typeface="Times New Roman" panose="02020603050405020304" pitchFamily="18" charset="0"/>
              </a:rPr>
              <a:t>        string t = s;</a:t>
            </a:r>
          </a:p>
          <a:p>
            <a:r>
              <a:rPr lang="en-US" sz="4800" dirty="0">
                <a:latin typeface="Times New Roman" panose="02020603050405020304" pitchFamily="18" charset="0"/>
                <a:cs typeface="Times New Roman" panose="02020603050405020304" pitchFamily="18" charset="0"/>
              </a:rPr>
              <a:t>        s = s + " World";</a:t>
            </a:r>
          </a:p>
          <a:p>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Console.WriteLine</a:t>
            </a:r>
            <a:r>
              <a:rPr lang="en-US" sz="4800" dirty="0">
                <a:latin typeface="Times New Roman" panose="02020603050405020304" pitchFamily="18" charset="0"/>
                <a:cs typeface="Times New Roman" panose="02020603050405020304" pitchFamily="18" charset="0"/>
              </a:rPr>
              <a:t>("s = " + s); // Output: Hello World</a:t>
            </a:r>
          </a:p>
          <a:p>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Console.WriteLine</a:t>
            </a:r>
            <a:r>
              <a:rPr lang="en-US" sz="4800" dirty="0">
                <a:latin typeface="Times New Roman" panose="02020603050405020304" pitchFamily="18" charset="0"/>
                <a:cs typeface="Times New Roman" panose="02020603050405020304" pitchFamily="18" charset="0"/>
              </a:rPr>
              <a:t>("t = " + t); // Output: Hello</a:t>
            </a:r>
          </a:p>
          <a:p>
            <a:r>
              <a:rPr lang="en-US" sz="4800" dirty="0">
                <a:latin typeface="Times New Roman" panose="02020603050405020304" pitchFamily="18" charset="0"/>
                <a:cs typeface="Times New Roman" panose="02020603050405020304" pitchFamily="18" charset="0"/>
              </a:rPr>
              <a:t>    }</a:t>
            </a:r>
          </a:p>
          <a:p>
            <a:r>
              <a:rPr lang="en-US" sz="48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419016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97F5-7533-40F3-85A4-B204B56B9E92}"/>
              </a:ext>
            </a:extLst>
          </p:cNvPr>
          <p:cNvSpPr>
            <a:spLocks noGrp="1"/>
          </p:cNvSpPr>
          <p:nvPr>
            <p:ph type="title"/>
          </p:nvPr>
        </p:nvSpPr>
        <p:spPr/>
        <p:txBody>
          <a:bodyPr>
            <a:normAutofit/>
          </a:bodyPr>
          <a:lstStyle/>
          <a:p>
            <a:r>
              <a:rPr lang="en-US" b="1" dirty="0"/>
              <a:t>Types of Invariants</a:t>
            </a:r>
            <a:br>
              <a:rPr lang="en-US" b="1" dirty="0"/>
            </a:br>
            <a:endParaRPr lang="en-US" dirty="0"/>
          </a:p>
        </p:txBody>
      </p:sp>
      <p:sp>
        <p:nvSpPr>
          <p:cNvPr id="3" name="Content Placeholder 2">
            <a:extLst>
              <a:ext uri="{FF2B5EF4-FFF2-40B4-BE49-F238E27FC236}">
                <a16:creationId xmlns:a16="http://schemas.microsoft.com/office/drawing/2014/main" id="{ED641F11-A3DD-4B4A-81E6-2F9EBCA1E506}"/>
              </a:ext>
            </a:extLst>
          </p:cNvPr>
          <p:cNvSpPr>
            <a:spLocks noGrp="1"/>
          </p:cNvSpPr>
          <p:nvPr>
            <p:ph idx="1"/>
          </p:nvPr>
        </p:nvSpPr>
        <p:spPr/>
        <p:txBody>
          <a:bodyPr/>
          <a:lstStyle/>
          <a:p>
            <a:pPr marL="514350" indent="-514350" algn="just">
              <a:buFont typeface="+mj-lt"/>
              <a:buAutoNum type="arabicPeriod"/>
            </a:pPr>
            <a:r>
              <a:rPr lang="en-US" b="1" dirty="0"/>
              <a:t>Class Invariant</a:t>
            </a:r>
            <a:r>
              <a:rPr lang="en-US" dirty="0"/>
              <a:t> – a rule that must always be true for an object of a class.</a:t>
            </a:r>
          </a:p>
          <a:p>
            <a:pPr marL="514350" indent="-514350" algn="just">
              <a:buFont typeface="+mj-lt"/>
              <a:buAutoNum type="arabicPeriod"/>
            </a:pPr>
            <a:r>
              <a:rPr lang="en-US" b="1" dirty="0"/>
              <a:t>Loop Invariant</a:t>
            </a:r>
            <a:r>
              <a:rPr lang="en-US" dirty="0"/>
              <a:t> – a condition that remains true before and after every loop iteration.</a:t>
            </a:r>
          </a:p>
          <a:p>
            <a:pPr marL="514350" indent="-514350" algn="just">
              <a:buFont typeface="+mj-lt"/>
              <a:buAutoNum type="arabicPeriod"/>
            </a:pPr>
            <a:r>
              <a:rPr lang="en-US" b="1" dirty="0"/>
              <a:t>Representation Invariant (Rep Invariant)</a:t>
            </a:r>
            <a:r>
              <a:rPr lang="en-US" dirty="0"/>
              <a:t> – ensures that the internal state of an Abstract Data Type (ADT) is valid.</a:t>
            </a:r>
          </a:p>
          <a:p>
            <a:endParaRPr lang="en-US" dirty="0"/>
          </a:p>
        </p:txBody>
      </p:sp>
    </p:spTree>
    <p:extLst>
      <p:ext uri="{BB962C8B-B14F-4D97-AF65-F5344CB8AC3E}">
        <p14:creationId xmlns:p14="http://schemas.microsoft.com/office/powerpoint/2010/main" val="454443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3439-45FB-4E60-BD7F-B625C056D8AE}"/>
              </a:ext>
            </a:extLst>
          </p:cNvPr>
          <p:cNvSpPr>
            <a:spLocks noGrp="1"/>
          </p:cNvSpPr>
          <p:nvPr>
            <p:ph type="title"/>
          </p:nvPr>
        </p:nvSpPr>
        <p:spPr/>
        <p:txBody>
          <a:bodyPr/>
          <a:lstStyle/>
          <a:p>
            <a:r>
              <a:rPr lang="en-US" dirty="0"/>
              <a:t>Class Invariants</a:t>
            </a:r>
          </a:p>
        </p:txBody>
      </p:sp>
      <p:pic>
        <p:nvPicPr>
          <p:cNvPr id="4" name="Content Placeholder 3">
            <a:extLst>
              <a:ext uri="{FF2B5EF4-FFF2-40B4-BE49-F238E27FC236}">
                <a16:creationId xmlns:a16="http://schemas.microsoft.com/office/drawing/2014/main" id="{7C33DEFF-ED83-4187-8C73-57EBE543F3B0}"/>
              </a:ext>
            </a:extLst>
          </p:cNvPr>
          <p:cNvPicPr>
            <a:picLocks noGrp="1" noChangeAspect="1"/>
          </p:cNvPicPr>
          <p:nvPr>
            <p:ph idx="1"/>
          </p:nvPr>
        </p:nvPicPr>
        <p:blipFill rotWithShape="1">
          <a:blip r:embed="rId2"/>
          <a:srcRect l="2982" t="6042" r="61699" b="38300"/>
          <a:stretch/>
        </p:blipFill>
        <p:spPr>
          <a:xfrm>
            <a:off x="1690920" y="1737361"/>
            <a:ext cx="4709881" cy="4181467"/>
          </a:xfrm>
          <a:prstGeom prst="rect">
            <a:avLst/>
          </a:prstGeom>
        </p:spPr>
      </p:pic>
    </p:spTree>
    <p:extLst>
      <p:ext uri="{BB962C8B-B14F-4D97-AF65-F5344CB8AC3E}">
        <p14:creationId xmlns:p14="http://schemas.microsoft.com/office/powerpoint/2010/main" val="1939734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5BB9E-20B8-4C13-AC94-4FE914292924}"/>
              </a:ext>
            </a:extLst>
          </p:cNvPr>
          <p:cNvSpPr>
            <a:spLocks noGrp="1"/>
          </p:cNvSpPr>
          <p:nvPr>
            <p:ph type="title"/>
          </p:nvPr>
        </p:nvSpPr>
        <p:spPr/>
        <p:txBody>
          <a:bodyPr/>
          <a:lstStyle/>
          <a:p>
            <a:r>
              <a:rPr lang="en-US" dirty="0"/>
              <a:t>Loop Invariants</a:t>
            </a:r>
          </a:p>
        </p:txBody>
      </p:sp>
      <p:pic>
        <p:nvPicPr>
          <p:cNvPr id="4" name="Content Placeholder 3">
            <a:extLst>
              <a:ext uri="{FF2B5EF4-FFF2-40B4-BE49-F238E27FC236}">
                <a16:creationId xmlns:a16="http://schemas.microsoft.com/office/drawing/2014/main" id="{60717EE9-7091-4BBA-B7B6-9F8B9CC40513}"/>
              </a:ext>
            </a:extLst>
          </p:cNvPr>
          <p:cNvPicPr>
            <a:picLocks noGrp="1" noChangeAspect="1"/>
          </p:cNvPicPr>
          <p:nvPr>
            <p:ph idx="1"/>
          </p:nvPr>
        </p:nvPicPr>
        <p:blipFill rotWithShape="1">
          <a:blip r:embed="rId2"/>
          <a:srcRect l="5990" t="26839" r="61365" b="40083"/>
          <a:stretch/>
        </p:blipFill>
        <p:spPr>
          <a:xfrm>
            <a:off x="1425388" y="2066365"/>
            <a:ext cx="5843136" cy="3330387"/>
          </a:xfrm>
          <a:prstGeom prst="rect">
            <a:avLst/>
          </a:prstGeom>
        </p:spPr>
      </p:pic>
    </p:spTree>
    <p:extLst>
      <p:ext uri="{BB962C8B-B14F-4D97-AF65-F5344CB8AC3E}">
        <p14:creationId xmlns:p14="http://schemas.microsoft.com/office/powerpoint/2010/main" val="129122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2F791-79A6-44A8-B728-FD0B30ADBC41}"/>
              </a:ext>
            </a:extLst>
          </p:cNvPr>
          <p:cNvSpPr>
            <a:spLocks noGrp="1"/>
          </p:cNvSpPr>
          <p:nvPr>
            <p:ph type="title"/>
          </p:nvPr>
        </p:nvSpPr>
        <p:spPr/>
        <p:txBody>
          <a:bodyPr/>
          <a:lstStyle/>
          <a:p>
            <a:r>
              <a:rPr lang="en-US" dirty="0"/>
              <a:t>Rep Invariants</a:t>
            </a:r>
          </a:p>
        </p:txBody>
      </p:sp>
      <p:pic>
        <p:nvPicPr>
          <p:cNvPr id="4" name="Content Placeholder 3">
            <a:extLst>
              <a:ext uri="{FF2B5EF4-FFF2-40B4-BE49-F238E27FC236}">
                <a16:creationId xmlns:a16="http://schemas.microsoft.com/office/drawing/2014/main" id="{368E6FDF-27C0-4C1A-A720-CE5D90F825E1}"/>
              </a:ext>
            </a:extLst>
          </p:cNvPr>
          <p:cNvPicPr>
            <a:picLocks noGrp="1" noChangeAspect="1"/>
          </p:cNvPicPr>
          <p:nvPr>
            <p:ph idx="1"/>
          </p:nvPr>
        </p:nvPicPr>
        <p:blipFill rotWithShape="1">
          <a:blip r:embed="rId3"/>
          <a:srcRect l="5990" t="11983" r="67337" b="24237"/>
          <a:stretch/>
        </p:blipFill>
        <p:spPr>
          <a:xfrm>
            <a:off x="1757082" y="1822361"/>
            <a:ext cx="4308867" cy="4129799"/>
          </a:xfrm>
          <a:prstGeom prst="rect">
            <a:avLst/>
          </a:prstGeom>
        </p:spPr>
      </p:pic>
    </p:spTree>
    <p:extLst>
      <p:ext uri="{BB962C8B-B14F-4D97-AF65-F5344CB8AC3E}">
        <p14:creationId xmlns:p14="http://schemas.microsoft.com/office/powerpoint/2010/main" val="145916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marL="0" indent="0">
              <a:buNone/>
            </a:pPr>
            <a:r>
              <a:rPr dirty="0"/>
              <a:t>• Invariants help ensure program correctness.</a:t>
            </a:r>
          </a:p>
          <a:p>
            <a:pPr marL="0" indent="0">
              <a:buNone/>
            </a:pPr>
            <a:r>
              <a:rPr dirty="0"/>
              <a:t>• Class Invariants guarantee object validity.</a:t>
            </a:r>
          </a:p>
          <a:p>
            <a:pPr marL="0" indent="0">
              <a:buNone/>
            </a:pPr>
            <a:r>
              <a:rPr dirty="0"/>
              <a:t>• Loop Invariants help prove algorithm correctness.</a:t>
            </a:r>
          </a:p>
          <a:p>
            <a:pPr marL="0" indent="0">
              <a:buNone/>
            </a:pPr>
            <a:r>
              <a:rPr dirty="0"/>
              <a:t>• Representation Invariants maintain valid internal states in data structures.</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an Abstraction Function?</a:t>
            </a:r>
          </a:p>
        </p:txBody>
      </p:sp>
      <p:sp>
        <p:nvSpPr>
          <p:cNvPr id="3" name="Content Placeholder 2"/>
          <p:cNvSpPr>
            <a:spLocks noGrp="1"/>
          </p:cNvSpPr>
          <p:nvPr>
            <p:ph idx="1"/>
          </p:nvPr>
        </p:nvSpPr>
        <p:spPr/>
        <p:txBody>
          <a:bodyPr/>
          <a:lstStyle/>
          <a:p>
            <a:pPr marL="0" indent="0">
              <a:buNone/>
            </a:pPr>
            <a:r>
              <a:rPr dirty="0"/>
              <a:t>• An abstraction function connects internal data (representation) to the abstract idea it represents.</a:t>
            </a:r>
          </a:p>
          <a:p>
            <a:pPr marL="0" indent="0">
              <a:buNone/>
            </a:pPr>
            <a:r>
              <a:rPr dirty="0"/>
              <a:t>• It answers: 'What does this data mean in the real world?'</a:t>
            </a:r>
          </a:p>
          <a:p>
            <a:pPr marL="0" indent="0">
              <a:buNone/>
            </a:pPr>
            <a:r>
              <a:rPr dirty="0"/>
              <a:t>• Helps us understand the logical meaning of data stored in our program.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in C#</a:t>
            </a:r>
          </a:p>
        </p:txBody>
      </p:sp>
      <p:sp>
        <p:nvSpPr>
          <p:cNvPr id="3" name="Content Placeholder 2"/>
          <p:cNvSpPr>
            <a:spLocks noGrp="1"/>
          </p:cNvSpPr>
          <p:nvPr>
            <p:ph idx="1"/>
          </p:nvPr>
        </p:nvSpPr>
        <p:spPr/>
        <p:txBody>
          <a:bodyPr>
            <a:normAutofit fontScale="92500" lnSpcReduction="20000"/>
          </a:bodyPr>
          <a:lstStyle/>
          <a:p>
            <a:pPr marL="0" indent="0">
              <a:buNone/>
            </a:pPr>
            <a:r>
              <a:rPr dirty="0"/>
              <a:t>Example: Stack class using List&lt;int&gt;</a:t>
            </a:r>
          </a:p>
          <a:p>
            <a:pPr marL="400050" lvl="1" indent="0">
              <a:buNone/>
            </a:pPr>
            <a:endParaRPr i="1" dirty="0"/>
          </a:p>
          <a:p>
            <a:pPr marL="400050" lvl="1" indent="0">
              <a:buNone/>
            </a:pPr>
            <a:r>
              <a:rPr i="1" dirty="0"/>
              <a:t>class Stack {</a:t>
            </a:r>
          </a:p>
          <a:p>
            <a:pPr marL="400050" lvl="1" indent="0">
              <a:buNone/>
            </a:pPr>
            <a:r>
              <a:rPr i="1" dirty="0"/>
              <a:t>   private List&lt;int&gt; elements = new List&lt;int&gt;();</a:t>
            </a:r>
          </a:p>
          <a:p>
            <a:pPr marL="400050" lvl="1" indent="0">
              <a:buNone/>
            </a:pPr>
            <a:r>
              <a:rPr i="1" dirty="0"/>
              <a:t>   public void Push(int value) =&gt; </a:t>
            </a:r>
            <a:r>
              <a:rPr i="1" dirty="0" err="1"/>
              <a:t>elements.Add</a:t>
            </a:r>
            <a:r>
              <a:rPr i="1" dirty="0"/>
              <a:t>(value);</a:t>
            </a:r>
          </a:p>
          <a:p>
            <a:pPr marL="400050" lvl="1" indent="0">
              <a:buNone/>
            </a:pPr>
            <a:r>
              <a:rPr i="1" dirty="0"/>
              <a:t>   public int Pop() {</a:t>
            </a:r>
          </a:p>
          <a:p>
            <a:pPr marL="400050" lvl="1" indent="0">
              <a:buNone/>
            </a:pPr>
            <a:r>
              <a:rPr i="1" dirty="0"/>
              <a:t>       int top = elements[</a:t>
            </a:r>
            <a:r>
              <a:rPr i="1" dirty="0" err="1"/>
              <a:t>elements.Count</a:t>
            </a:r>
            <a:r>
              <a:rPr i="1" dirty="0"/>
              <a:t> - 1];</a:t>
            </a:r>
          </a:p>
          <a:p>
            <a:pPr marL="400050" lvl="1" indent="0">
              <a:buNone/>
            </a:pPr>
            <a:r>
              <a:rPr i="1" dirty="0"/>
              <a:t>       </a:t>
            </a:r>
            <a:r>
              <a:rPr i="1" dirty="0" err="1"/>
              <a:t>elements.RemoveAt</a:t>
            </a:r>
            <a:r>
              <a:rPr i="1" dirty="0"/>
              <a:t>(</a:t>
            </a:r>
            <a:r>
              <a:rPr i="1" dirty="0" err="1"/>
              <a:t>elements.Count</a:t>
            </a:r>
            <a:r>
              <a:rPr i="1" dirty="0"/>
              <a:t> - 1);</a:t>
            </a:r>
          </a:p>
          <a:p>
            <a:pPr marL="400050" lvl="1" indent="0">
              <a:buNone/>
            </a:pPr>
            <a:r>
              <a:rPr i="1" dirty="0"/>
              <a:t>       return top;</a:t>
            </a:r>
          </a:p>
          <a:p>
            <a:pPr marL="400050" lvl="1" indent="0">
              <a:buNone/>
            </a:pPr>
            <a:r>
              <a:rPr i="1" dirty="0"/>
              <a:t>   }</a:t>
            </a:r>
          </a:p>
          <a:p>
            <a:pPr marL="400050" lvl="1" indent="0">
              <a:buNone/>
            </a:pPr>
            <a:r>
              <a:rPr i="1" dirty="0"/>
              <a:t>}</a:t>
            </a:r>
          </a:p>
          <a:p>
            <a:pPr marL="0" indent="0">
              <a:buNone/>
            </a:pPr>
            <a:endParaRPr dirty="0"/>
          </a:p>
          <a:p>
            <a:pPr marL="0" indent="0">
              <a:buNone/>
            </a:pPr>
            <a:r>
              <a:rPr dirty="0"/>
              <a:t>Abstraction Function: 'The list represents a stack whose top is the last element in the list.'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It’s Important</a:t>
            </a:r>
          </a:p>
        </p:txBody>
      </p:sp>
      <p:sp>
        <p:nvSpPr>
          <p:cNvPr id="3" name="Content Placeholder 2"/>
          <p:cNvSpPr>
            <a:spLocks noGrp="1"/>
          </p:cNvSpPr>
          <p:nvPr>
            <p:ph idx="1"/>
          </p:nvPr>
        </p:nvSpPr>
        <p:spPr/>
        <p:txBody>
          <a:bodyPr/>
          <a:lstStyle/>
          <a:p>
            <a:r>
              <a:t>• Helps separate how data is stored from what it represents.</a:t>
            </a:r>
          </a:p>
          <a:p>
            <a:r>
              <a:t>• Makes your program easier to understand and maintain.</a:t>
            </a:r>
          </a:p>
          <a:p>
            <a:r>
              <a:t>• Ensures your implementation correctly represents the abstract idea.</a:t>
            </a:r>
          </a:p>
          <a:p>
            <a:r>
              <a:t>• Used in Abstract Data Types (ADTs) to define their logical meaning.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Simple Words</a:t>
            </a:r>
          </a:p>
        </p:txBody>
      </p:sp>
      <p:sp>
        <p:nvSpPr>
          <p:cNvPr id="3" name="Content Placeholder 2"/>
          <p:cNvSpPr>
            <a:spLocks noGrp="1"/>
          </p:cNvSpPr>
          <p:nvPr>
            <p:ph idx="1"/>
          </p:nvPr>
        </p:nvSpPr>
        <p:spPr/>
        <p:txBody>
          <a:bodyPr/>
          <a:lstStyle/>
          <a:p>
            <a:r>
              <a:t>Representation → How data is stored (e.g., List, Array)</a:t>
            </a:r>
          </a:p>
          <a:p>
            <a:r>
              <a:t>Abstraction Function → Explains what that data means logically</a:t>
            </a:r>
          </a:p>
          <a:p>
            <a:r>
              <a:t>Example → List [1,2,3] = Stack with 3 on top</a:t>
            </a:r>
          </a:p>
          <a:p>
            <a:endParaRPr/>
          </a:p>
          <a:p>
            <a:r>
              <a:t>Abstraction Function connects the code to the concept!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B42B4-61C4-4253-8490-E9C9B1F8602B}"/>
              </a:ext>
            </a:extLst>
          </p:cNvPr>
          <p:cNvSpPr>
            <a:spLocks noGrp="1"/>
          </p:cNvSpPr>
          <p:nvPr>
            <p:ph type="title"/>
          </p:nvPr>
        </p:nvSpPr>
        <p:spPr>
          <a:xfrm>
            <a:off x="822960" y="286604"/>
            <a:ext cx="7543800" cy="936889"/>
          </a:xfrm>
        </p:spPr>
        <p:txBody>
          <a:bodyPr/>
          <a:lstStyle/>
          <a:p>
            <a:r>
              <a:rPr lang="en-US" b="1" dirty="0"/>
              <a:t>Why It Matters</a:t>
            </a:r>
            <a:endParaRPr lang="en-US" dirty="0"/>
          </a:p>
        </p:txBody>
      </p:sp>
      <p:sp>
        <p:nvSpPr>
          <p:cNvPr id="3" name="Content Placeholder 2">
            <a:extLst>
              <a:ext uri="{FF2B5EF4-FFF2-40B4-BE49-F238E27FC236}">
                <a16:creationId xmlns:a16="http://schemas.microsoft.com/office/drawing/2014/main" id="{BFBB34F7-A806-4E21-B2A5-D092C5F0084A}"/>
              </a:ext>
            </a:extLst>
          </p:cNvPr>
          <p:cNvSpPr>
            <a:spLocks noGrp="1"/>
          </p:cNvSpPr>
          <p:nvPr>
            <p:ph idx="1"/>
          </p:nvPr>
        </p:nvSpPr>
        <p:spPr/>
        <p:txBody>
          <a:bodyPr/>
          <a:lstStyle/>
          <a:p>
            <a:r>
              <a:rPr lang="en-US" dirty="0"/>
              <a:t>The </a:t>
            </a:r>
            <a:r>
              <a:rPr lang="en-US" b="1" dirty="0"/>
              <a:t>Abstraction Function</a:t>
            </a:r>
            <a:r>
              <a:rPr lang="en-US" dirty="0"/>
              <a:t> helps you:</a:t>
            </a:r>
          </a:p>
          <a:p>
            <a:r>
              <a:rPr lang="en-US" dirty="0"/>
              <a:t>Connect the </a:t>
            </a:r>
            <a:r>
              <a:rPr lang="en-US" i="1" dirty="0"/>
              <a:t>implementation</a:t>
            </a:r>
            <a:r>
              <a:rPr lang="en-US" dirty="0"/>
              <a:t> (how data is stored) with the </a:t>
            </a:r>
            <a:r>
              <a:rPr lang="en-US" i="1" dirty="0"/>
              <a:t>concept</a:t>
            </a:r>
            <a:r>
              <a:rPr lang="en-US" dirty="0"/>
              <a:t> (how users think about it).</a:t>
            </a:r>
          </a:p>
          <a:p>
            <a:r>
              <a:rPr lang="en-US" dirty="0"/>
              <a:t>Reason about correctness: does the code really represent what it’s supposed to?</a:t>
            </a:r>
          </a:p>
          <a:p>
            <a:r>
              <a:rPr lang="en-US" dirty="0"/>
              <a:t>Maintain or debug code: you can see where representation and concept might diverge.</a:t>
            </a:r>
          </a:p>
          <a:p>
            <a:endParaRPr lang="en-US" dirty="0"/>
          </a:p>
        </p:txBody>
      </p:sp>
    </p:spTree>
    <p:extLst>
      <p:ext uri="{BB962C8B-B14F-4D97-AF65-F5344CB8AC3E}">
        <p14:creationId xmlns:p14="http://schemas.microsoft.com/office/powerpoint/2010/main" val="1242406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797E-5FAF-83F6-08F7-13BCD472D7B6}"/>
              </a:ext>
            </a:extLst>
          </p:cNvPr>
          <p:cNvSpPr>
            <a:spLocks noGrp="1"/>
          </p:cNvSpPr>
          <p:nvPr>
            <p:ph type="title"/>
          </p:nvPr>
        </p:nvSpPr>
        <p:spPr/>
        <p:txBody>
          <a:bodyPr/>
          <a:lstStyle/>
          <a:p>
            <a:r>
              <a:rPr lang="en-US" dirty="0"/>
              <a:t>Task</a:t>
            </a:r>
            <a:endParaRPr lang="en-PK" dirty="0"/>
          </a:p>
        </p:txBody>
      </p:sp>
      <p:sp>
        <p:nvSpPr>
          <p:cNvPr id="3" name="Content Placeholder 2">
            <a:extLst>
              <a:ext uri="{FF2B5EF4-FFF2-40B4-BE49-F238E27FC236}">
                <a16:creationId xmlns:a16="http://schemas.microsoft.com/office/drawing/2014/main" id="{A9D53C29-B2E2-FA2A-1B12-93F6E34A2B6E}"/>
              </a:ext>
            </a:extLst>
          </p:cNvPr>
          <p:cNvSpPr>
            <a:spLocks noGrp="1"/>
          </p:cNvSpPr>
          <p:nvPr>
            <p:ph idx="1"/>
          </p:nvPr>
        </p:nvSpPr>
        <p:spPr/>
        <p:txBody>
          <a:bodyPr/>
          <a:lstStyle/>
          <a:p>
            <a:r>
              <a:rPr lang="en-US" b="1" dirty="0"/>
              <a:t>Rep Invariant for a Student Class</a:t>
            </a:r>
          </a:p>
          <a:p>
            <a:r>
              <a:rPr lang="en-US" dirty="0"/>
              <a:t>Class: Student(name, age, marks)</a:t>
            </a:r>
          </a:p>
          <a:p>
            <a:r>
              <a:rPr lang="en-US" dirty="0"/>
              <a:t>age must be </a:t>
            </a:r>
            <a:r>
              <a:rPr lang="en-US" b="1" dirty="0"/>
              <a:t>between 5 and 100</a:t>
            </a:r>
            <a:endParaRPr lang="en-US" dirty="0"/>
          </a:p>
          <a:p>
            <a:r>
              <a:rPr lang="en-US" dirty="0"/>
              <a:t>marks must be </a:t>
            </a:r>
            <a:r>
              <a:rPr lang="en-US" b="1" dirty="0"/>
              <a:t>0–100</a:t>
            </a:r>
            <a:endParaRPr lang="en-US" dirty="0"/>
          </a:p>
          <a:p>
            <a:r>
              <a:rPr lang="en-US" b="1" dirty="0"/>
              <a:t>Task:</a:t>
            </a:r>
            <a:endParaRPr lang="en-US" dirty="0"/>
          </a:p>
          <a:p>
            <a:r>
              <a:rPr lang="en-US" dirty="0"/>
              <a:t>Write the rep invariant.</a:t>
            </a:r>
          </a:p>
          <a:p>
            <a:r>
              <a:rPr lang="en-US" dirty="0"/>
              <a:t>Write a constructor that enforces it.</a:t>
            </a:r>
          </a:p>
          <a:p>
            <a:r>
              <a:rPr lang="en-US" dirty="0"/>
              <a:t>Write a test that breaks it (e.g., negative marks).</a:t>
            </a:r>
          </a:p>
          <a:p>
            <a:endParaRPr lang="en-PK" dirty="0"/>
          </a:p>
        </p:txBody>
      </p:sp>
    </p:spTree>
    <p:extLst>
      <p:ext uri="{BB962C8B-B14F-4D97-AF65-F5344CB8AC3E}">
        <p14:creationId xmlns:p14="http://schemas.microsoft.com/office/powerpoint/2010/main" val="68920349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177</TotalTime>
  <Words>676</Words>
  <Application>Microsoft Office PowerPoint</Application>
  <PresentationFormat>On-screen Show (4:3)</PresentationFormat>
  <Paragraphs>78</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Calibri Light</vt:lpstr>
      <vt:lpstr>Times New Roman</vt:lpstr>
      <vt:lpstr>Retrospect</vt:lpstr>
      <vt:lpstr>Abstraction Function</vt:lpstr>
      <vt:lpstr>Invariants</vt:lpstr>
      <vt:lpstr>example</vt:lpstr>
      <vt:lpstr>PowerPoint Presentation</vt:lpstr>
      <vt:lpstr>Types of Invariants </vt:lpstr>
      <vt:lpstr>Class Invariants</vt:lpstr>
      <vt:lpstr>Loop Invariants</vt:lpstr>
      <vt:lpstr>Rep Invariants</vt:lpstr>
      <vt:lpstr>Summary</vt:lpstr>
      <vt:lpstr>What is an Abstraction Function?</vt:lpstr>
      <vt:lpstr>Example in C#</vt:lpstr>
      <vt:lpstr>Why It’s Important</vt:lpstr>
      <vt:lpstr>In Simple Words</vt:lpstr>
      <vt:lpstr>Why It Matters</vt:lpstr>
      <vt:lpstr>Task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Abstraction Function (in Simple Words)</dc:title>
  <dc:subject/>
  <dc:creator/>
  <cp:keywords/>
  <dc:description>generated using python-pptx</dc:description>
  <cp:lastModifiedBy>Wajiha Arif</cp:lastModifiedBy>
  <cp:revision>11</cp:revision>
  <dcterms:created xsi:type="dcterms:W3CDTF">2013-01-27T09:14:16Z</dcterms:created>
  <dcterms:modified xsi:type="dcterms:W3CDTF">2025-11-17T10:51:23Z</dcterms:modified>
  <cp:category/>
</cp:coreProperties>
</file>